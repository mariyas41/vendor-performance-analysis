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9" r:id="rId6"/>
    <p:sldId id="279" r:id="rId7"/>
    <p:sldId id="280" r:id="rId8"/>
    <p:sldId id="513" r:id="rId9"/>
    <p:sldId id="270" r:id="rId10"/>
    <p:sldId id="271" r:id="rId11"/>
    <p:sldId id="272" r:id="rId12"/>
    <p:sldId id="514" r:id="rId13"/>
    <p:sldId id="274" r:id="rId14"/>
    <p:sldId id="515" r:id="rId15"/>
    <p:sldId id="275" r:id="rId16"/>
    <p:sldId id="276" r:id="rId17"/>
    <p:sldId id="516" r:id="rId18"/>
    <p:sldId id="277" r:id="rId19"/>
    <p:sldId id="278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2752"/>
    <a:srgbClr val="E3A097"/>
    <a:srgbClr val="F5D9D7"/>
    <a:srgbClr val="263025"/>
    <a:srgbClr val="334031"/>
    <a:srgbClr val="8A9161"/>
    <a:srgbClr val="81875A"/>
    <a:srgbClr val="000000"/>
    <a:srgbClr val="EFE0BE"/>
    <a:srgbClr val="F7F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3E9AE-34CA-4104-A9A8-57B730521871}" v="10" dt="2025-11-06T11:35:20.309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404" y="48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21" y="6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ya shaji" userId="cf7023dff0881c9c" providerId="LiveId" clId="{7C21B94B-CB49-4573-850F-90CD36EC9B90}"/>
    <pc:docChg chg="undo redo custSel addSld delSld modSld sldOrd">
      <pc:chgData name="mariya shaji" userId="cf7023dff0881c9c" providerId="LiveId" clId="{7C21B94B-CB49-4573-850F-90CD36EC9B90}" dt="2025-11-21T06:31:48.866" v="306" actId="113"/>
      <pc:docMkLst>
        <pc:docMk/>
      </pc:docMkLst>
      <pc:sldChg chg="addSp delSp modSp mod">
        <pc:chgData name="mariya shaji" userId="cf7023dff0881c9c" providerId="LiveId" clId="{7C21B94B-CB49-4573-850F-90CD36EC9B90}" dt="2025-11-06T10:59:44.419" v="48" actId="1076"/>
        <pc:sldMkLst>
          <pc:docMk/>
          <pc:sldMk cId="4259977132" sldId="276"/>
        </pc:sldMkLst>
        <pc:spChg chg="mod">
          <ac:chgData name="mariya shaji" userId="cf7023dff0881c9c" providerId="LiveId" clId="{7C21B94B-CB49-4573-850F-90CD36EC9B90}" dt="2025-11-06T10:58:59.788" v="36" actId="1076"/>
          <ac:spMkLst>
            <pc:docMk/>
            <pc:sldMk cId="4259977132" sldId="276"/>
            <ac:spMk id="2" creationId="{B7545968-70F7-0180-6448-3547E442EF4A}"/>
          </ac:spMkLst>
        </pc:spChg>
        <pc:spChg chg="add mod">
          <ac:chgData name="mariya shaji" userId="cf7023dff0881c9c" providerId="LiveId" clId="{7C21B94B-CB49-4573-850F-90CD36EC9B90}" dt="2025-11-06T10:59:44.419" v="48" actId="1076"/>
          <ac:spMkLst>
            <pc:docMk/>
            <pc:sldMk cId="4259977132" sldId="276"/>
            <ac:spMk id="9" creationId="{1C95EA1F-B614-46EE-2708-22951DD6799E}"/>
          </ac:spMkLst>
        </pc:spChg>
        <pc:picChg chg="add mod">
          <ac:chgData name="mariya shaji" userId="cf7023dff0881c9c" providerId="LiveId" clId="{7C21B94B-CB49-4573-850F-90CD36EC9B90}" dt="2025-11-06T10:59:25.504" v="45" actId="14100"/>
          <ac:picMkLst>
            <pc:docMk/>
            <pc:sldMk cId="4259977132" sldId="276"/>
            <ac:picMk id="10" creationId="{1D5E37A7-33A8-14DD-C259-8A4EB941926C}"/>
          </ac:picMkLst>
        </pc:picChg>
      </pc:sldChg>
      <pc:sldChg chg="addSp delSp modSp mod ord">
        <pc:chgData name="mariya shaji" userId="cf7023dff0881c9c" providerId="LiveId" clId="{7C21B94B-CB49-4573-850F-90CD36EC9B90}" dt="2025-11-06T11:36:58.948" v="304" actId="20577"/>
        <pc:sldMkLst>
          <pc:docMk/>
          <pc:sldMk cId="3058085568" sldId="277"/>
        </pc:sldMkLst>
        <pc:spChg chg="add mod">
          <ac:chgData name="mariya shaji" userId="cf7023dff0881c9c" providerId="LiveId" clId="{7C21B94B-CB49-4573-850F-90CD36EC9B90}" dt="2025-11-06T11:36:39.232" v="280" actId="1076"/>
          <ac:spMkLst>
            <pc:docMk/>
            <pc:sldMk cId="3058085568" sldId="277"/>
            <ac:spMk id="3" creationId="{D32D7AB3-8CCB-151E-50B9-19DD11CF2D74}"/>
          </ac:spMkLst>
        </pc:spChg>
        <pc:spChg chg="add mod">
          <ac:chgData name="mariya shaji" userId="cf7023dff0881c9c" providerId="LiveId" clId="{7C21B94B-CB49-4573-850F-90CD36EC9B90}" dt="2025-11-06T11:36:58.948" v="304" actId="20577"/>
          <ac:spMkLst>
            <pc:docMk/>
            <pc:sldMk cId="3058085568" sldId="277"/>
            <ac:spMk id="6" creationId="{BAAEFD7E-5BC1-C106-14DF-6F8564FB27A8}"/>
          </ac:spMkLst>
        </pc:spChg>
        <pc:spChg chg="add mod">
          <ac:chgData name="mariya shaji" userId="cf7023dff0881c9c" providerId="LiveId" clId="{7C21B94B-CB49-4573-850F-90CD36EC9B90}" dt="2025-11-06T11:22:47.170" v="184" actId="1076"/>
          <ac:spMkLst>
            <pc:docMk/>
            <pc:sldMk cId="3058085568" sldId="277"/>
            <ac:spMk id="10" creationId="{7A696EA6-D546-4039-708B-8820F7AF1417}"/>
          </ac:spMkLst>
        </pc:spChg>
        <pc:graphicFrameChg chg="add mod modGraphic">
          <ac:chgData name="mariya shaji" userId="cf7023dff0881c9c" providerId="LiveId" clId="{7C21B94B-CB49-4573-850F-90CD36EC9B90}" dt="2025-11-06T11:36:46.132" v="281" actId="1076"/>
          <ac:graphicFrameMkLst>
            <pc:docMk/>
            <pc:sldMk cId="3058085568" sldId="277"/>
            <ac:graphicFrameMk id="4" creationId="{0F747060-CADA-E76F-9750-9528D2EE6DB0}"/>
          </ac:graphicFrameMkLst>
        </pc:graphicFrameChg>
      </pc:sldChg>
      <pc:sldChg chg="modSp mod">
        <pc:chgData name="mariya shaji" userId="cf7023dff0881c9c" providerId="LiveId" clId="{7C21B94B-CB49-4573-850F-90CD36EC9B90}" dt="2025-11-06T11:23:12.376" v="225" actId="20577"/>
        <pc:sldMkLst>
          <pc:docMk/>
          <pc:sldMk cId="2715385371" sldId="278"/>
        </pc:sldMkLst>
        <pc:spChg chg="mod">
          <ac:chgData name="mariya shaji" userId="cf7023dff0881c9c" providerId="LiveId" clId="{7C21B94B-CB49-4573-850F-90CD36EC9B90}" dt="2025-11-06T11:23:12.376" v="225" actId="20577"/>
          <ac:spMkLst>
            <pc:docMk/>
            <pc:sldMk cId="2715385371" sldId="278"/>
            <ac:spMk id="6" creationId="{54D0A6B8-78EB-52CA-3D46-A46FC880D386}"/>
          </ac:spMkLst>
        </pc:spChg>
      </pc:sldChg>
      <pc:sldChg chg="modSp mod">
        <pc:chgData name="mariya shaji" userId="cf7023dff0881c9c" providerId="LiveId" clId="{7C21B94B-CB49-4573-850F-90CD36EC9B90}" dt="2025-11-21T06:31:48.866" v="306" actId="113"/>
        <pc:sldMkLst>
          <pc:docMk/>
          <pc:sldMk cId="2701136009" sldId="515"/>
        </pc:sldMkLst>
        <pc:spChg chg="mod">
          <ac:chgData name="mariya shaji" userId="cf7023dff0881c9c" providerId="LiveId" clId="{7C21B94B-CB49-4573-850F-90CD36EC9B90}" dt="2025-11-21T06:31:48.866" v="306" actId="113"/>
          <ac:spMkLst>
            <pc:docMk/>
            <pc:sldMk cId="2701136009" sldId="515"/>
            <ac:spMk id="3" creationId="{F780CFAB-0F50-0013-E05F-442DA3E7D2D9}"/>
          </ac:spMkLst>
        </pc:spChg>
      </pc:sldChg>
      <pc:sldChg chg="add">
        <pc:chgData name="mariya shaji" userId="cf7023dff0881c9c" providerId="LiveId" clId="{7C21B94B-CB49-4573-850F-90CD36EC9B90}" dt="2025-11-06T11:20:44.045" v="121" actId="2890"/>
        <pc:sldMkLst>
          <pc:docMk/>
          <pc:sldMk cId="3164725244" sldId="5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11/21/2025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1CD3-8D46-90B0-95CE-5E4676FD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0D24E-07BA-CBD3-EFE7-7081115E0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BFE4F-7F73-D97C-9458-B92F81AB6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5D20-0D31-6E98-01C2-0656CA4EB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5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0734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C2FAC39-06DA-FEF0-2302-B02B7C1CD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44C766-4DBD-CE50-9374-1427F1FAE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0B4AC9CD-0374-4BE7-8481-7982C4A3E9D1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11/21/2025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03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3CA3B387-33D3-4D27-BE27-9B85ACC6AC8A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18" r:id="rId3"/>
    <p:sldLayoutId id="2147483712" r:id="rId4"/>
    <p:sldLayoutId id="2147483719" r:id="rId5"/>
    <p:sldLayoutId id="2147483705" r:id="rId6"/>
    <p:sldLayoutId id="2147483713" r:id="rId7"/>
    <p:sldLayoutId id="2147483699" r:id="rId8"/>
    <p:sldLayoutId id="2147483716" r:id="rId9"/>
    <p:sldLayoutId id="2147483702" r:id="rId10"/>
    <p:sldLayoutId id="2147483714" r:id="rId11"/>
    <p:sldLayoutId id="2147483720" r:id="rId12"/>
    <p:sldLayoutId id="2147483709" r:id="rId13"/>
    <p:sldLayoutId id="214748372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/>
          <a:lstStyle/>
          <a:p>
            <a:r>
              <a:rPr lang="en-US" dirty="0"/>
              <a:t>Vendor performance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Presented by MARIYA SHAJI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7"/>
            <a:ext cx="4844143" cy="914400"/>
          </a:xfrm>
          <a:noFill/>
        </p:spPr>
        <p:txBody>
          <a:bodyPr anchor="ctr">
            <a:noAutofit/>
          </a:bodyPr>
          <a:lstStyle/>
          <a:p>
            <a:r>
              <a:rPr lang="en-US" dirty="0" err="1"/>
              <a:t>Intoduction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41237-CDD1-6707-FF94-F33BAD1EE1A0}"/>
              </a:ext>
            </a:extLst>
          </p:cNvPr>
          <p:cNvSpPr txBox="1"/>
          <p:nvPr/>
        </p:nvSpPr>
        <p:spPr>
          <a:xfrm>
            <a:off x="448056" y="1322731"/>
            <a:ext cx="1147572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of 10 lakh records across 5 tables: Sales, Purchase, Vendor, Brand, Product.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Objective: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top-performing vendors and brands, understand cost drivers, and improve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Tools used: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BigQuery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(Data Aggregation) · Python (EDA &amp; Insights) · Power BI (Dashboard Visualization).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1" dirty="0"/>
              <a:t>Building the Analytical Dataset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Joined five  tables in </a:t>
            </a:r>
            <a:r>
              <a:rPr lang="en-US" altLang="en-US" sz="2000" dirty="0" err="1"/>
              <a:t>BigQuery</a:t>
            </a:r>
            <a:r>
              <a:rPr lang="en-US" altLang="en-US" sz="2000" dirty="0"/>
              <a:t> using vendor and product relationship to create a clean, unified dataset.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Aggregated metrics at </a:t>
            </a:r>
            <a:r>
              <a:rPr lang="en-US" altLang="en-US" sz="2000" i="1" dirty="0"/>
              <a:t>vendor–brand</a:t>
            </a:r>
            <a:r>
              <a:rPr lang="en-US" altLang="en-US" sz="2000" dirty="0"/>
              <a:t> level for holistic performance comparison.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Engineered business KPIs: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Profit Margin (%), Gross Profit, Stock Turnover, Sales-to-Purchase Ratio , Profit Margin , Gross Profit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Derived new features to capture operational cost, efficiency, and pricing trends.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Verified data consistency using statistical summaries and cross-table validation.</a:t>
            </a: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50688-3D2B-714A-56B1-1BD7234F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BEAC-5BF4-6942-1807-7BACCD750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89" y="548641"/>
            <a:ext cx="4844143" cy="914400"/>
          </a:xfrm>
          <a:noFill/>
        </p:spPr>
        <p:txBody>
          <a:bodyPr anchor="ctr">
            <a:noAutofit/>
          </a:bodyPr>
          <a:lstStyle/>
          <a:p>
            <a:r>
              <a:rPr lang="en-US" b="1" dirty="0"/>
              <a:t>Univariate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A3C1F-9C22-465D-4FEF-1C2C8D7FE693}"/>
              </a:ext>
            </a:extLst>
          </p:cNvPr>
          <p:cNvSpPr txBox="1"/>
          <p:nvPr/>
        </p:nvSpPr>
        <p:spPr>
          <a:xfrm>
            <a:off x="731520" y="1880515"/>
            <a:ext cx="102504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 started by analyzing individual features such as </a:t>
            </a:r>
            <a:r>
              <a:rPr lang="en-US" sz="2000" i="1" dirty="0"/>
              <a:t>Total Sales Value, Total Purchase Value, Profit, Gross Profit, Freight Cost,</a:t>
            </a:r>
            <a:r>
              <a:rPr lang="en-US" sz="2000" dirty="0"/>
              <a:t> and </a:t>
            </a:r>
            <a:r>
              <a:rPr lang="en-US" sz="2000" i="1" dirty="0"/>
              <a:t>Excise Cost</a:t>
            </a:r>
            <a:r>
              <a:rPr lang="en-US" sz="2000" dirty="0"/>
              <a:t>.</a:t>
            </a:r>
          </a:p>
          <a:p>
            <a:br>
              <a:rPr lang="en-US" sz="2000" dirty="0"/>
            </a:br>
            <a:r>
              <a:rPr lang="en-US" sz="2000" dirty="0"/>
              <a:t>Using histograms and boxplots, I visualized the spread and detected outliers — particularly in sales and profit columns, where a few records had unusually high values.</a:t>
            </a:r>
          </a:p>
          <a:p>
            <a:br>
              <a:rPr lang="en-US" sz="2000" dirty="0"/>
            </a:br>
            <a:r>
              <a:rPr lang="en-US" sz="2000" dirty="0"/>
              <a:t>These outliers were reviewed, and unrealistic data points were removed or capped to ensure fair representation of typical business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4997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11DB8-8223-29ED-B2A1-0A8E184F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565B-CA4D-6382-F8CE-8790E8D8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89" y="548641"/>
            <a:ext cx="4844143" cy="914400"/>
          </a:xfrm>
          <a:noFill/>
        </p:spPr>
        <p:txBody>
          <a:bodyPr anchor="ctr">
            <a:noAutofit/>
          </a:bodyPr>
          <a:lstStyle/>
          <a:p>
            <a:r>
              <a:rPr lang="en-US" b="1" dirty="0"/>
              <a:t>EDA WITH PYTHON</a:t>
            </a:r>
            <a:br>
              <a:rPr lang="en-US" b="1" dirty="0"/>
            </a:br>
            <a:endParaRPr lang="en-US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81105799-128A-A5DF-CC1F-B76D957A5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4" y="1765990"/>
            <a:ext cx="5247069" cy="38512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21E97D-621A-0955-52EC-1605F4535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449" y="1765990"/>
            <a:ext cx="5114544" cy="3851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BB6E87-9185-11DD-FA95-C2CC3DBC6328}"/>
              </a:ext>
            </a:extLst>
          </p:cNvPr>
          <p:cNvSpPr txBox="1"/>
          <p:nvPr/>
        </p:nvSpPr>
        <p:spPr>
          <a:xfrm>
            <a:off x="2459736" y="5940027"/>
            <a:ext cx="3035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HISTPLOT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4331E-7B0A-D729-1BDB-76B8C08F8345}"/>
              </a:ext>
            </a:extLst>
          </p:cNvPr>
          <p:cNvSpPr txBox="1"/>
          <p:nvPr/>
        </p:nvSpPr>
        <p:spPr>
          <a:xfrm>
            <a:off x="8214360" y="5940027"/>
            <a:ext cx="3035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BARPLOT</a:t>
            </a:r>
          </a:p>
        </p:txBody>
      </p:sp>
    </p:spTree>
    <p:extLst>
      <p:ext uri="{BB962C8B-B14F-4D97-AF65-F5344CB8AC3E}">
        <p14:creationId xmlns:p14="http://schemas.microsoft.com/office/powerpoint/2010/main" val="158438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4AF4-0453-996C-146B-BF92BF42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D7BB0-F72F-93C5-839C-18E96138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6C50D-9619-FB03-B6F2-15D4EE319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98" y="1821183"/>
            <a:ext cx="10515600" cy="401268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75493B4-7B80-D223-A178-15219F0F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9530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Key Relationships Impacting Profitability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D685A-5FB8-60F8-C683-12B61D6CA107}"/>
              </a:ext>
            </a:extLst>
          </p:cNvPr>
          <p:cNvSpPr txBox="1"/>
          <p:nvPr/>
        </p:nvSpPr>
        <p:spPr>
          <a:xfrm>
            <a:off x="4389120" y="5993368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Correlation Heatmap </a:t>
            </a:r>
          </a:p>
        </p:txBody>
      </p:sp>
    </p:spTree>
    <p:extLst>
      <p:ext uri="{BB962C8B-B14F-4D97-AF65-F5344CB8AC3E}">
        <p14:creationId xmlns:p14="http://schemas.microsoft.com/office/powerpoint/2010/main" val="4119083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783442"/>
          </a:xfrm>
          <a:noFill/>
        </p:spPr>
        <p:txBody>
          <a:bodyPr>
            <a:noAutofit/>
          </a:bodyPr>
          <a:lstStyle/>
          <a:p>
            <a:r>
              <a:rPr lang="en-US" dirty="0"/>
              <a:t>Correlation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619E4-5873-9A42-36EB-FB641A009EBC}"/>
              </a:ext>
            </a:extLst>
          </p:cNvPr>
          <p:cNvSpPr txBox="1"/>
          <p:nvPr/>
        </p:nvSpPr>
        <p:spPr>
          <a:xfrm>
            <a:off x="523494" y="1704271"/>
            <a:ext cx="545668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 and Purchase Volumes Move Together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positive correlation between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purchase quantity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sales quantity (r ≈ 0.99)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efficient inventory movement and healthy demand fulfillment.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Procurement Drives Higher Sales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purchase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 value (r ≈ 0.82)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confirm that vendors investing more in stock typically achieve stronger revenue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Freight Cost Negatively Impacts Profitability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Rising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freight and logistics expenses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linked with lower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 profit (r ≈ –0.43)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the need for better supply chain cost control.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6BFAE-D20B-6068-47AD-0FE79D308101}"/>
              </a:ext>
            </a:extLst>
          </p:cNvPr>
          <p:cNvSpPr txBox="1"/>
          <p:nvPr/>
        </p:nvSpPr>
        <p:spPr>
          <a:xfrm>
            <a:off x="6211826" y="450998"/>
            <a:ext cx="545668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Sales-to-Purchase Ratio is a Key Efficiency Indicator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positive correlation (r ≈ 0.74)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profit margin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highlights that vendors converting purchases to sales efficiently achieve the best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Sales Don’t Always Mean Higher Margins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Profit margin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a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slight negative link (r ≈ –0.18)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 price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competitive pricing pressures or cost escalation at higher sales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Stock Turnover and Profit Are Weakly Linked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Stock turnover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 a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 negative correlation (r ≈ –0.05)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gross profit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implying that faster inventory movement doesn’t guarantee better margins — efficiency must be balanced with pricing strategy.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536" y="734461"/>
            <a:ext cx="10235184" cy="1002899"/>
          </a:xfrm>
          <a:noFill/>
        </p:spPr>
        <p:txBody>
          <a:bodyPr>
            <a:noAutofit/>
          </a:bodyPr>
          <a:lstStyle/>
          <a:p>
            <a:r>
              <a:rPr lang="en-IN" dirty="0"/>
              <a:t>Brand Segmentation – Sales vs Profit Margin</a:t>
            </a:r>
            <a:br>
              <a:rPr lang="en-IN" dirty="0"/>
            </a:br>
            <a:r>
              <a:rPr lang="en-IN" dirty="0"/>
              <a:t> (4-Quadrant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948" y="2032355"/>
            <a:ext cx="10169652" cy="4516227"/>
          </a:xfrm>
          <a:noFill/>
        </p:spPr>
        <p:txBody>
          <a:bodyPr>
            <a:normAutofit/>
          </a:bodyPr>
          <a:lstStyle/>
          <a:p>
            <a:r>
              <a:rPr lang="en-US" sz="2400" b="1" dirty="0"/>
              <a:t>Objective:</a:t>
            </a:r>
            <a:br>
              <a:rPr lang="en-US" dirty="0"/>
            </a:br>
            <a:r>
              <a:rPr lang="en-US" dirty="0"/>
              <a:t>Segment brands based on their </a:t>
            </a:r>
            <a:r>
              <a:rPr lang="en-US" b="1" dirty="0"/>
              <a:t>sales performance</a:t>
            </a:r>
            <a:r>
              <a:rPr lang="en-US" dirty="0"/>
              <a:t> and </a:t>
            </a:r>
            <a:r>
              <a:rPr lang="en-US" b="1" dirty="0"/>
              <a:t>profitability</a:t>
            </a:r>
            <a:r>
              <a:rPr lang="en-US" dirty="0"/>
              <a:t> to identify strategic actions.</a:t>
            </a:r>
          </a:p>
          <a:p>
            <a:r>
              <a:rPr lang="en-US" sz="2400" b="1" dirty="0"/>
              <a:t>Quadrant Definition:</a:t>
            </a:r>
            <a:endParaRPr lang="en-US" sz="2400" dirty="0"/>
          </a:p>
          <a:p>
            <a:r>
              <a:rPr lang="en-US" dirty="0"/>
              <a:t>🟩 </a:t>
            </a:r>
            <a:r>
              <a:rPr lang="en-US" b="1" dirty="0"/>
              <a:t>Stars</a:t>
            </a:r>
            <a:r>
              <a:rPr lang="en-US" dirty="0"/>
              <a:t> – High Sales, High Margin → Top-performing brands; maintain leadership and ensure stock availability.</a:t>
            </a:r>
          </a:p>
          <a:p>
            <a:r>
              <a:rPr lang="en-US" dirty="0"/>
              <a:t>🟦 </a:t>
            </a:r>
            <a:r>
              <a:rPr lang="en-US" b="1" dirty="0"/>
              <a:t>Volume Drivers</a:t>
            </a:r>
            <a:r>
              <a:rPr lang="en-US" dirty="0"/>
              <a:t> – High Sales, Low Margin → Focus on cost control and pricing optimization.</a:t>
            </a:r>
          </a:p>
          <a:p>
            <a:r>
              <a:rPr lang="en-US" dirty="0"/>
              <a:t>🟨 </a:t>
            </a:r>
            <a:r>
              <a:rPr lang="en-US" b="1" dirty="0"/>
              <a:t>Promote / Invest</a:t>
            </a:r>
            <a:r>
              <a:rPr lang="en-US" dirty="0"/>
              <a:t> – Low Sales, High Margin → Profitable but underperforming; ideal candidates for marketing or promotional campaigns.</a:t>
            </a:r>
          </a:p>
          <a:p>
            <a:r>
              <a:rPr lang="en-US" dirty="0"/>
              <a:t>🟥 </a:t>
            </a:r>
            <a:r>
              <a:rPr lang="en-US" b="1" dirty="0"/>
              <a:t>Phase Out</a:t>
            </a:r>
            <a:r>
              <a:rPr lang="en-US" dirty="0"/>
              <a:t> – Low Sales, Low Margin → Poor performers; consider phasing out, bundling, or repositioning.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3" y="447965"/>
            <a:ext cx="9571182" cy="928254"/>
          </a:xfrm>
          <a:noFill/>
        </p:spPr>
        <p:txBody>
          <a:bodyPr>
            <a:noAutofit/>
          </a:bodyPr>
          <a:lstStyle/>
          <a:p>
            <a:r>
              <a:rPr lang="en-IN" sz="3200" dirty="0"/>
              <a:t>Brand Segmentation – Sales vs Profit Margin</a:t>
            </a:r>
            <a:br>
              <a:rPr lang="en-IN" sz="3200" dirty="0"/>
            </a:br>
            <a:r>
              <a:rPr lang="en-IN" sz="3200" dirty="0"/>
              <a:t> (4-Quadrant Model)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96D5D-5A0A-20EE-C4B9-7002BF9CC997}"/>
              </a:ext>
            </a:extLst>
          </p:cNvPr>
          <p:cNvSpPr txBox="1"/>
          <p:nvPr/>
        </p:nvSpPr>
        <p:spPr>
          <a:xfrm>
            <a:off x="424873" y="1277042"/>
            <a:ext cx="58558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Insights:</a:t>
            </a:r>
            <a:endParaRPr lang="en-US" sz="2000" dirty="0"/>
          </a:p>
          <a:p>
            <a:r>
              <a:rPr lang="en-US" sz="2000" dirty="0"/>
              <a:t>Majority of profits are generated by Star and Volume Driver brands.</a:t>
            </a:r>
          </a:p>
          <a:p>
            <a:endParaRPr lang="en-US" sz="2000" dirty="0"/>
          </a:p>
          <a:p>
            <a:r>
              <a:rPr lang="en-US" sz="2000" b="1" dirty="0"/>
              <a:t>Promote/Invest</a:t>
            </a:r>
            <a:r>
              <a:rPr lang="en-US" sz="2000" dirty="0"/>
              <a:t> brands have high profitability potential but low visibility — perfect promotion targets.</a:t>
            </a:r>
          </a:p>
          <a:p>
            <a:endParaRPr lang="en-US" sz="2000" dirty="0"/>
          </a:p>
          <a:p>
            <a:r>
              <a:rPr lang="en-US" sz="2000" b="1" dirty="0"/>
              <a:t>Phase Out</a:t>
            </a:r>
            <a:r>
              <a:rPr lang="en-US" sz="2000" dirty="0"/>
              <a:t> brands contribute least to sales and margins, creating cost drag on overall performance.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Business Recommendation:</a:t>
            </a:r>
            <a:br>
              <a:rPr lang="en-US" sz="2000" dirty="0"/>
            </a:br>
            <a:r>
              <a:rPr lang="en-US" sz="2000" dirty="0"/>
              <a:t>Prioritize marketing efforts on Promote/Invest brands to unlock profit growth.</a:t>
            </a:r>
            <a:br>
              <a:rPr lang="en-US" sz="2000" dirty="0"/>
            </a:br>
            <a:r>
              <a:rPr lang="en-US" sz="2000" dirty="0"/>
              <a:t>Optimize Volume Drivers for efficiency and protect Stars from stock-outs.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AAC5E3B-C8B1-ADDB-C098-CE8BC5CDBDF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9263" r="19263"/>
          <a:stretch>
            <a:fillRect/>
          </a:stretch>
        </p:blipFill>
        <p:spPr>
          <a:xfrm>
            <a:off x="6280727" y="1468583"/>
            <a:ext cx="5579261" cy="494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C5763-259B-5DCD-B29C-4C0E80C8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9AB4-8341-E195-3009-0876B7AE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591" y="558970"/>
            <a:ext cx="10235184" cy="1002899"/>
          </a:xfrm>
          <a:noFill/>
        </p:spPr>
        <p:txBody>
          <a:bodyPr>
            <a:noAutofit/>
          </a:bodyPr>
          <a:lstStyle/>
          <a:p>
            <a:r>
              <a:rPr lang="en-US" dirty="0"/>
              <a:t>Top 10 Vendors and Brands based on Total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F69C-3DB3-9588-4256-48C6BA78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25" y="1487055"/>
            <a:ext cx="10912302" cy="4811975"/>
          </a:xfrm>
          <a:noFill/>
        </p:spPr>
        <p:txBody>
          <a:bodyPr>
            <a:normAutofit/>
          </a:bodyPr>
          <a:lstStyle/>
          <a:p>
            <a:r>
              <a:rPr lang="en-US" sz="2400" b="1" dirty="0"/>
              <a:t>Objective:</a:t>
            </a:r>
            <a:br>
              <a:rPr lang="en-US" dirty="0"/>
            </a:br>
            <a:r>
              <a:rPr lang="en-US" dirty="0"/>
              <a:t>Identify key vendors and brands driving overall sales revenue.</a:t>
            </a:r>
          </a:p>
          <a:p>
            <a:r>
              <a:rPr lang="en-US" sz="2400" b="1" dirty="0"/>
              <a:t>Insights:</a:t>
            </a:r>
            <a:endParaRPr lang="en-US" sz="2400" dirty="0"/>
          </a:p>
          <a:p>
            <a:r>
              <a:rPr lang="en-US" b="1" dirty="0"/>
              <a:t>Diageo North America Inc.</a:t>
            </a:r>
            <a:r>
              <a:rPr lang="en-US" dirty="0"/>
              <a:t> and </a:t>
            </a:r>
            <a:r>
              <a:rPr lang="en-US" b="1" dirty="0"/>
              <a:t>Martignetti Companies</a:t>
            </a:r>
            <a:r>
              <a:rPr lang="en-US" dirty="0"/>
              <a:t> lead vendor performance, contributing the highest sales volume.</a:t>
            </a:r>
          </a:p>
          <a:p>
            <a:r>
              <a:rPr lang="en-US" b="1" dirty="0"/>
              <a:t>Top brands</a:t>
            </a:r>
            <a:r>
              <a:rPr lang="en-US" dirty="0"/>
              <a:t> include </a:t>
            </a:r>
            <a:r>
              <a:rPr lang="en-US" b="1" dirty="0"/>
              <a:t>Jack Daniel’s No.7 Black</a:t>
            </a:r>
            <a:r>
              <a:rPr lang="en-US" dirty="0"/>
              <a:t>, </a:t>
            </a:r>
            <a:r>
              <a:rPr lang="en-US" b="1" dirty="0"/>
              <a:t>Tito’s Handmade Vodka</a:t>
            </a:r>
            <a:r>
              <a:rPr lang="en-US" dirty="0"/>
              <a:t>, and </a:t>
            </a:r>
            <a:r>
              <a:rPr lang="en-US" b="1" dirty="0"/>
              <a:t>Grey Goose</a:t>
            </a:r>
            <a:r>
              <a:rPr lang="en-US" dirty="0"/>
              <a:t>, which dominate overall sales share.</a:t>
            </a:r>
          </a:p>
          <a:p>
            <a:r>
              <a:rPr lang="en-US" dirty="0"/>
              <a:t>High concentration among a few brands indicates strong brand equity but also dependency risk.</a:t>
            </a:r>
          </a:p>
          <a:p>
            <a:r>
              <a:rPr lang="en-US" sz="2400" b="1" dirty="0"/>
              <a:t>Business Takeaway:</a:t>
            </a:r>
            <a:br>
              <a:rPr lang="en-US" dirty="0"/>
            </a:br>
            <a:r>
              <a:rPr lang="en-US" dirty="0"/>
              <a:t>Strengthen relationships with top vendors while identifying mid-performing vendors for capacity expansion and new marketing opportunities.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6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364" y="871806"/>
            <a:ext cx="11104418" cy="799976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Top 10 Vendors and Brands based on Total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0918C1-A1C2-1AF2-4523-F821C0FD2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79" y="1978763"/>
            <a:ext cx="4664364" cy="41928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B18148-503A-694A-FA25-74BE4BA83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659" y="1978763"/>
            <a:ext cx="4996874" cy="41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A7E6B-9E4E-FA4F-42EA-C4DB25C9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4D44-B0D7-A950-13CA-E2C6465D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591" y="558970"/>
            <a:ext cx="10235184" cy="1002899"/>
          </a:xfrm>
          <a:noFill/>
        </p:spPr>
        <p:txBody>
          <a:bodyPr>
            <a:noAutofit/>
          </a:bodyPr>
          <a:lstStyle/>
          <a:p>
            <a:r>
              <a:rPr lang="en-US" dirty="0"/>
              <a:t>Top 10 Vendors – Purchase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CFAB-0F50-0013-E05F-442DA3E7D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25" y="1828800"/>
            <a:ext cx="10912302" cy="4470230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Insights:</a:t>
            </a:r>
            <a:endParaRPr lang="en-US" sz="2800" dirty="0"/>
          </a:p>
          <a:p>
            <a:r>
              <a:rPr lang="en-US" sz="2400" dirty="0"/>
              <a:t>The Top 10 vendors contribute ~65.8% of total purchases, led by Diageo North America Inc. (16.3%).</a:t>
            </a:r>
          </a:p>
          <a:p>
            <a:r>
              <a:rPr lang="en-US" sz="2400" dirty="0"/>
              <a:t>The Pareto curve shows that around Top 10 vendors drive nearly 65% of purchase value, confirming a moderate concentration pattern.</a:t>
            </a:r>
          </a:p>
          <a:p>
            <a:r>
              <a:rPr lang="en-US" sz="2400" dirty="0"/>
              <a:t>This means procurement decisions and supplier relationships are heavily influenced by a small vendor group.</a:t>
            </a:r>
          </a:p>
          <a:p>
            <a:r>
              <a:rPr lang="en-US" sz="2400" dirty="0"/>
              <a:t>The remaining vendors account for only 35% of purchases, indicating possible over-fragmentation or low-volume suppliers.</a:t>
            </a:r>
          </a:p>
          <a:p>
            <a:r>
              <a:rPr lang="en-US" sz="2800" b="1" dirty="0"/>
              <a:t>Business Implication:</a:t>
            </a:r>
            <a:endParaRPr lang="en-US" sz="2800" dirty="0"/>
          </a:p>
          <a:p>
            <a:r>
              <a:rPr lang="en-US" sz="2400" dirty="0"/>
              <a:t>Prioritize relationship management and strategic contracts with the top 10 vendors.</a:t>
            </a:r>
            <a:br>
              <a:rPr lang="en-US" sz="2400" dirty="0"/>
            </a:br>
            <a:r>
              <a:rPr lang="en-US" sz="2400" dirty="0"/>
              <a:t>Evaluate low-contribution vendors for consolidation or performance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36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0" y="659369"/>
            <a:ext cx="11095182" cy="726085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Top 10 Vendors – Purchase Contribution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6A8F58-C309-678C-431E-21EA1B4FB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0" y="1639097"/>
            <a:ext cx="4903209" cy="4559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4A75E3-624A-F76B-C98B-D24A1A09F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836" y="1639097"/>
            <a:ext cx="5439214" cy="45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472" y="551581"/>
            <a:ext cx="9695688" cy="509123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Order Size Categorization (S, M, 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5EA1F-B614-46EE-2708-22951DD6799E}"/>
              </a:ext>
            </a:extLst>
          </p:cNvPr>
          <p:cNvSpPr txBox="1"/>
          <p:nvPr/>
        </p:nvSpPr>
        <p:spPr>
          <a:xfrm>
            <a:off x="1167384" y="4139535"/>
            <a:ext cx="9857232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000" b="1" dirty="0"/>
              <a:t>Insight:</a:t>
            </a:r>
            <a:endParaRPr lang="en-US" sz="2000" dirty="0"/>
          </a:p>
          <a:p>
            <a:r>
              <a:rPr lang="en-US" sz="2000" dirty="0"/>
              <a:t>Small orders → higher &amp; more variable prices — often premium or low-volume products.</a:t>
            </a:r>
          </a:p>
          <a:p>
            <a:r>
              <a:rPr lang="en-US" sz="2000" dirty="0"/>
              <a:t>Large orders → lower, stable prices — due to bulk purchase discounts.</a:t>
            </a:r>
          </a:p>
          <a:p>
            <a:endParaRPr lang="en-US" sz="2000" dirty="0"/>
          </a:p>
          <a:p>
            <a:r>
              <a:rPr lang="en-US" sz="2000" dirty="0"/>
              <a:t>Expensive items are bought in small quantities, cheaper ones in bulk.</a:t>
            </a:r>
          </a:p>
          <a:p>
            <a:r>
              <a:rPr lang="en-US" sz="2000" dirty="0"/>
              <a:t>Bulk buying → lower cost per unit..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5E37A7-33A8-14DD-C259-8A4EB941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1" y="1432911"/>
            <a:ext cx="7235952" cy="270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84921-E94E-4CDA-0F92-DEA79205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D9392-D4B4-1305-EEF1-57ACB300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477" y="549333"/>
            <a:ext cx="8783638" cy="950283"/>
          </a:xfrm>
          <a:noFill/>
        </p:spPr>
        <p:txBody>
          <a:bodyPr>
            <a:noAutofit/>
          </a:bodyPr>
          <a:lstStyle/>
          <a:p>
            <a:r>
              <a:rPr lang="en-US" sz="2800" dirty="0"/>
              <a:t>Profit Margin Comparison – Top vs Low Vendors </a:t>
            </a:r>
            <a:br>
              <a:rPr lang="en-US" sz="2800" dirty="0"/>
            </a:br>
            <a:r>
              <a:rPr lang="en-US" sz="2800" dirty="0"/>
              <a:t>(95% Confidence)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648090-2991-5770-0E82-A5A40314E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99" y="1769687"/>
            <a:ext cx="5442897" cy="4311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C9DC94-8949-E739-77E1-0B9A5C8B8DEE}"/>
              </a:ext>
            </a:extLst>
          </p:cNvPr>
          <p:cNvSpPr txBox="1"/>
          <p:nvPr/>
        </p:nvSpPr>
        <p:spPr>
          <a:xfrm>
            <a:off x="6404331" y="1851823"/>
            <a:ext cx="46976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000" dirty="0"/>
            </a:br>
            <a:r>
              <a:rPr lang="en-US" sz="2000" dirty="0"/>
              <a:t>This reflects a clear volume–margin trade-off:</a:t>
            </a:r>
            <a:br>
              <a:rPr lang="en-US" sz="2000" dirty="0"/>
            </a:br>
            <a:r>
              <a:rPr lang="en-US" sz="2000" dirty="0"/>
              <a:t>large vendors prioritize scale and stability, while smaller vendors deliver higher profitability per sale, though on smaller volumes.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F93CF-05E8-3C1A-8E5A-7EF5231009BB}"/>
              </a:ext>
            </a:extLst>
          </p:cNvPr>
          <p:cNvSpPr txBox="1"/>
          <p:nvPr/>
        </p:nvSpPr>
        <p:spPr>
          <a:xfrm>
            <a:off x="6404331" y="1620990"/>
            <a:ext cx="222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Insight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1EF376-9616-D247-A5CB-72EFB095094B}"/>
              </a:ext>
            </a:extLst>
          </p:cNvPr>
          <p:cNvGraphicFramePr>
            <a:graphicFrameLocks noGrp="1"/>
          </p:cNvGraphicFramePr>
          <p:nvPr/>
        </p:nvGraphicFramePr>
        <p:xfrm>
          <a:off x="6404331" y="4139730"/>
          <a:ext cx="5071389" cy="2194560"/>
        </p:xfrm>
        <a:graphic>
          <a:graphicData uri="http://schemas.openxmlformats.org/drawingml/2006/table">
            <a:tbl>
              <a:tblPr/>
              <a:tblGrid>
                <a:gridCol w="1690463">
                  <a:extLst>
                    <a:ext uri="{9D8B030D-6E8A-4147-A177-3AD203B41FA5}">
                      <a16:colId xmlns:a16="http://schemas.microsoft.com/office/drawing/2014/main" val="3923508830"/>
                    </a:ext>
                  </a:extLst>
                </a:gridCol>
                <a:gridCol w="1194483">
                  <a:extLst>
                    <a:ext uri="{9D8B030D-6E8A-4147-A177-3AD203B41FA5}">
                      <a16:colId xmlns:a16="http://schemas.microsoft.com/office/drawing/2014/main" val="1040560611"/>
                    </a:ext>
                  </a:extLst>
                </a:gridCol>
                <a:gridCol w="2186443">
                  <a:extLst>
                    <a:ext uri="{9D8B030D-6E8A-4147-A177-3AD203B41FA5}">
                      <a16:colId xmlns:a16="http://schemas.microsoft.com/office/drawing/2014/main" val="1126692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Vendor Group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Avg Profit Margin (%)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Sales Quartile Definition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530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Top Vendors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31.17%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 25% by Total Sales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93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 Vendors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41.51%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Bottom 25% by Total Sales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2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72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A696EA6-D546-4039-708B-8820F7AF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069" y="339021"/>
            <a:ext cx="4001675" cy="1023435"/>
          </a:xfrm>
        </p:spPr>
        <p:txBody>
          <a:bodyPr/>
          <a:lstStyle/>
          <a:p>
            <a:r>
              <a:rPr lang="en-IN" sz="32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D7AB3-8CCB-151E-50B9-19DD11CF2D74}"/>
              </a:ext>
            </a:extLst>
          </p:cNvPr>
          <p:cNvSpPr txBox="1"/>
          <p:nvPr/>
        </p:nvSpPr>
        <p:spPr>
          <a:xfrm>
            <a:off x="838200" y="103838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Key Insights</a:t>
            </a:r>
          </a:p>
          <a:p>
            <a:pPr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Top 10 vendors contribute ~65% of total purchases— showing moderate concentration.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Profitability is driven by a volume–margin trade-off — high-volume vendors maintain thinner but stable margins, while smaller vendors yield higher per-unit profit.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Freight cost shows negative correlation (r = –0.43) with profit — logistics optimization opportunity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747060-CADA-E76F-9750-9528D2EE6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43749"/>
              </p:ext>
            </p:extLst>
          </p:nvPr>
        </p:nvGraphicFramePr>
        <p:xfrm>
          <a:off x="975360" y="4232979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421731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8453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19898598"/>
                    </a:ext>
                  </a:extLst>
                </a:gridCol>
              </a:tblGrid>
              <a:tr h="329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Focus Area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Action Plan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821202"/>
                  </a:ext>
                </a:extLst>
              </a:tr>
              <a:tr h="57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Vendor Mix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Balance high-volume and high-margin vendors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+2–3% profit uplift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46720"/>
                  </a:ext>
                </a:extLst>
              </a:tr>
              <a:tr h="57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Freight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Optimize routes &amp; renegotiate contracts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5–8% cost 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0732"/>
                  </a:ext>
                </a:extLst>
              </a:tr>
              <a:tr h="57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Promotional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Boost mid-volume, mid-margin brands to scale profitably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+1–2% overall margin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3486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AEFD7E-5BC1-C106-14DF-6F8564FB27A8}"/>
              </a:ext>
            </a:extLst>
          </p:cNvPr>
          <p:cNvSpPr txBox="1"/>
          <p:nvPr/>
        </p:nvSpPr>
        <p:spPr>
          <a:xfrm>
            <a:off x="838200" y="3636872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Recommendion</a:t>
            </a:r>
            <a:r>
              <a:rPr lang="en-IN" sz="2400" b="1" dirty="0">
                <a:solidFill>
                  <a:schemeClr val="bg1"/>
                </a:solidFill>
              </a:rPr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  <a:noFill/>
        </p:spPr>
        <p:txBody>
          <a:bodyPr anchor="ctr">
            <a:noAutofit/>
          </a:bodyPr>
          <a:lstStyle/>
          <a:p>
            <a:r>
              <a:rPr lang="en-US" noProof="0" dirty="0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Mariya shaji</a:t>
            </a:r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9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F7B615"/>
      </a:hlink>
      <a:folHlink>
        <a:srgbClr val="704404"/>
      </a:folHlink>
    </a:clrScheme>
    <a:fontScheme name="Custom 190">
      <a:majorFont>
        <a:latin typeface="DM Serif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88997677_win32_LW_V2" id="{A337E98B-B78A-4478-A7B4-5BC118FBE473}" vid="{BFD76E1B-16BC-4706-8DD0-46BF66D357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118B1F56-8983-41A9-8E90-86247BC2C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Rose suite presentation</Template>
  <TotalTime>60</TotalTime>
  <Words>1138</Words>
  <Application>Microsoft Office PowerPoint</Application>
  <PresentationFormat>Widescreen</PresentationFormat>
  <Paragraphs>118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DM Serif Display</vt:lpstr>
      <vt:lpstr>Source Sans Pro</vt:lpstr>
      <vt:lpstr>Custom</vt:lpstr>
      <vt:lpstr>Vendor performance ANALYSIS</vt:lpstr>
      <vt:lpstr>Intoduction</vt:lpstr>
      <vt:lpstr>Univariate Analysis </vt:lpstr>
      <vt:lpstr>EDA WITH PYTHON </vt:lpstr>
      <vt:lpstr>Key Relationships Impacting Profitability</vt:lpstr>
      <vt:lpstr>Correlation</vt:lpstr>
      <vt:lpstr>Brand Segmentation – Sales vs Profit Margin  (4-Quadrant Model)</vt:lpstr>
      <vt:lpstr>Brand Segmentation – Sales vs Profit Margin  (4-Quadrant Model)</vt:lpstr>
      <vt:lpstr>Top 10 Vendors and Brands based on Total Sales</vt:lpstr>
      <vt:lpstr>Top 10 Vendors and Brands based on Total Sales</vt:lpstr>
      <vt:lpstr>Top 10 Vendors – Purchase Contribution</vt:lpstr>
      <vt:lpstr>Top 10 Vendors – Purchase Contribution</vt:lpstr>
      <vt:lpstr>Order Size Categorization (S, M, L)</vt:lpstr>
      <vt:lpstr>Profit Margin Comparison – Top vs Low Vendors  (95% Confidence)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mariya shaji</dc:creator>
  <cp:lastModifiedBy>mariya shaji</cp:lastModifiedBy>
  <cp:revision>1</cp:revision>
  <dcterms:created xsi:type="dcterms:W3CDTF">2025-11-06T09:19:33Z</dcterms:created>
  <dcterms:modified xsi:type="dcterms:W3CDTF">2025-11-21T06:31:56Z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